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Lanai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Premium experience for the premium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2926080" cy="292608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600"/>
            </a:pPr>
            <a:r>
              <a:t>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583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4F3F"/>
                </a:solidFill>
              </a:defRPr>
            </a:pPr>
            <a:r>
              <a:t>Lanai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6870"/>
                </a:solidFill>
              </a:defRPr>
            </a:pPr>
            <a:r>
              <a:t>Premium experience for the premium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Lanai has delivered a complete intelligence-led concierge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platform now brings CRM context, AI assistance, and a client-facing experience together in one operating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CRM-connected workflows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AI-assisted delivery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Client-facing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A premium experience with clear operational value and practical AI support.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A connected experience spanning advisor workflows, AI-assisted proposals, and client access.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A platform that already feels coherent, credible, and ready for the next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The platform already supports the core client and advisor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experience spans request handling, communication, proposal generation, and client visibility in one connected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Advisor workflows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Client experience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Live product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service layer already supports request intake, client communication, and advisor coordination.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product layer already supports proposal creation, member access, and operational visibility.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overall experience already feels coherent, usable, and operational.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The solution reflects the brief that was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work delivered aligns to the client request for a premium experience, clear operational value, and practical AI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Premium experience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Operational clarity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Practical AI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experience moves from request to response with a premium flow and clear operational value.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product feels polished, intentional, and tailored to the client’s expectations.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delivery feels thoughtful, precise, and well aligned to the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WhatsApp is now positioned as an intelligent concierge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Message intake, drafting support, and routing are brought into one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Inbound message handling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AI-assisted drafts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Advisor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experience already supports message intake, draft generation, and routing into advisor tasks.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It reduces manual triage and creates more consistent, faster responses.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It gives the client a more attentive and premium communication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Proposal creation is now a live AI-assisted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Travel recommendations can be drafted and shaped in a guided workflow that supports the advisor.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Live drafting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Structured output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Client-ready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advisor can capture trip intent, assemble a draft in real time, and shape it to the client.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workflow improves turnaround time and creates more consistent, higher-quality output.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result feels practical, intelligent, and immediately credible.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Client intelligence is now part of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platform can surface profile context, signal trends, and next actions from client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Profile context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Opportunity signal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Next action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advisor can tailor outreach and anticipate needs with stronger client context.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client receives more relevant service and more thoughtful communication.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result creates stronger loyalty potential and a more premium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The client portal is now a working member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Members can access trip context and request support through a dedicated portal.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Member portal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Trip visibility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Support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Members can view trip context, access their profile, and reach support through a dedicated portal.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advisor gains clearer ownership and less friction in the service journey.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experience elevates the brand and supports a premium positioning.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CRM-backed operations are now embedded in the advisor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platform is grounded in live client and request data rather than static demo placeholders.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Live CRM context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Operational visibility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Ready for team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experience is grounded in live client and request data rather than static demo placeholders.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It improves adoption, shows product maturity, and reduces friction in daily work.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It signals that the platform is built for real operational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The roadmap is staged, credible, and focused on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next steps are clear and tied to practical delivery rather than abstract ambition.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Enhance now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Expand next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Innovate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near-term focus is to strengthen AI in day-to-day work and improve advisor adoption.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mid-term focus is to broaden portal capability and deepen client and supplier reach.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long-term focus is to create proactive intelligence and differentiate through a smarter concierge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201400" cy="109728"/>
          </a:xfrm>
          <a:prstGeom prst="rect">
            <a:avLst/>
          </a:prstGeom>
          <a:solidFill>
            <a:srgbClr val="254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12F"/>
                </a:solidFill>
                <a:latin typeface="Arial"/>
              </a:defRPr>
            </a:pPr>
            <a:r>
              <a:t>The final message is simple: Lanai is already building the future of luxury concierge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C6870"/>
                </a:solidFill>
              </a:defRPr>
            </a:pPr>
            <a:r>
              <a:t>The platform now demonstrates meaningful value across both advisor work and client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868680"/>
            <a:ext cx="3017520" cy="1645920"/>
          </a:xfrm>
          <a:prstGeom prst="rect">
            <a:avLst/>
          </a:prstGeom>
          <a:solidFill>
            <a:srgbClr val="F4EAD6"/>
          </a:solidFill>
          <a:ln w="19050">
            <a:solidFill>
              <a:srgbClr val="D4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4F3F"/>
                </a:solidFill>
              </a:defRPr>
            </a:pPr>
            <a:r>
              <a:t>Key proof points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Higher consistency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More responsiveness</a:t>
            </a:r>
          </a:p>
          <a:p>
            <a:pPr>
              <a:defRPr sz="1100">
                <a:solidFill>
                  <a:srgbClr val="4B5861"/>
                </a:solidFill>
              </a:defRPr>
            </a:pPr>
            <a:r>
              <a:t>A more premium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platform is thoughtful, well-scoped, and already demonstrates meaningful value.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The presentation now shows a clear delivery story with real product substance.</a:t>
            </a:r>
          </a:p>
          <a:p>
            <a:pPr>
              <a:spcAft>
                <a:spcPts val="1000"/>
              </a:spcAft>
              <a:defRPr sz="1800">
                <a:solidFill>
                  <a:srgbClr val="293A48"/>
                </a:solidFill>
              </a:defRPr>
            </a:pPr>
            <a:r>
              <a:t>Lanai is not only adopting AI — it is shaping a more intelligent concierge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8"/>
                </a:solidFill>
              </a:defRPr>
            </a:pPr>
            <a:r>
              <a:t>Lanai presentation •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